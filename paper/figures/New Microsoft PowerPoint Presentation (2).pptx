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2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88276-AF85-7ADA-72CA-2A4520D95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72A7-6BC3-6D2A-66B3-36DE70E3F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0CC4B-24DA-74C9-14F5-AEFB11CE8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D4376-7E1C-A669-464F-47DBBF8C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71760-C60F-F599-1838-D9B07CA0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165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9759-CB8B-C9D7-CBF5-8258697D4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546D2-AD7A-7C3E-CEDD-47F1ABC2B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1EC5A-BE9A-E425-3104-CD2A20D0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AC02C-9D90-EC98-C24C-3B5CDB212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4437B-F271-4AF2-3817-C0E0A1A6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406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B337-83A4-C61E-5D10-71A5749B4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9D3FC-C62C-6010-76DA-13FA0F8DE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3F714-3791-85E1-7974-FE93DD400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6F725-C0E5-B566-5B82-236C7F2A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8E89E-1957-307B-733C-8AB76E25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7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CD2D4-CA7A-F54F-7920-E901759E5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B6A89-DDFE-946E-C2F3-CADD088C5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D6AA1-278F-D792-7B0B-89A106FDD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FA73C-2541-46E4-3D6B-4A570CD8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44F94-C15E-2A83-B9F4-796DA811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0C194-D7B2-368B-A65A-5162F5A1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845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861B-AAF2-957B-82CC-F9D11026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78E03-5EF6-0BBB-F6EE-C999821E4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5DCDC-95E5-042A-03E6-76475E582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F89AE-7733-E415-0FD5-607BE42DD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3C89C-750E-FA6D-9ECF-1C174D45C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F5716E-2D0C-3A90-4A78-1D6499E8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C9A442-73AD-E52C-C55E-C9F41600C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F650D-2DF0-46D4-1AC5-F59C388C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46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61625-C753-D429-D418-5DE360EF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69195-BB8D-18BF-B832-42B1EC32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24661-909E-DA04-200B-8BC1F2ED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E3217-9083-BDFF-B66C-B8F5FB12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084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9ECB4-3151-C639-7AD9-5E4E3D766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2E0694-A605-4D13-809C-FB00AAB9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A5B0A-B918-B87A-3EF2-6876597CA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33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6D531-82E4-B1F3-939A-A86D88A7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76690-BC26-E88A-3DCE-A243129EA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49332-98AB-AF9C-CBE2-114D1C789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F73E2-FAAA-360F-3156-7D2DDA02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1B3D0-A8F8-A38F-B2AF-16BB35479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3F315-B968-A90C-1066-B41831FE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51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3F124-75CA-1C3E-9058-E715074B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EF2893-2171-6736-6062-F0B7E0E9C5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CFBF6-82BE-4199-6E80-975ECA1FE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17409-1126-C408-A33A-F8E613D63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EF124-E00F-1377-FD5D-B77E6B53F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7FC18-37E8-DF37-D03B-4A494190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00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F5703-B006-49EE-B807-55481CAF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A36C3-9297-E76C-689F-30FE59DCC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AFE19-9F92-15D2-ABCE-C2E33EDE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A61C3-12FB-C019-FB0D-8553396D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3DF17-EEBA-0E6F-72FA-6F9A8FEC7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70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0AFAF-B5F0-3BEF-B4BC-E32F7F6B35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9C3B6-85FE-6C7B-20D1-DA93D4840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CD85E-F9D4-CBE7-0EAF-A19FB52F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E6662-79AD-0ED9-E4D7-F9B41ECF8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F7D67-04BA-9CCD-8E68-D14A7645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87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049D06-6916-3FE8-D793-1539775E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78B13-F25D-9256-F5EE-65AA383C3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7DF45-52B4-1026-6031-E194D0C07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BBCF9-9A03-41BB-B932-4B39BDEB5A6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2247-A22A-DB59-6C02-6214DAB85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6BA89-10E7-B261-F1E2-A6368186A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3616D-8A39-40BB-BBA2-FD825442D3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47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F3DAAC-31EC-4667-8872-49C07C10BAD9}"/>
              </a:ext>
            </a:extLst>
          </p:cNvPr>
          <p:cNvSpPr/>
          <p:nvPr/>
        </p:nvSpPr>
        <p:spPr>
          <a:xfrm>
            <a:off x="419101" y="438152"/>
            <a:ext cx="1771650" cy="8763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CW source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28 GHz, 20 dBm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1DBF294-9603-354A-0EC7-73C99E7367C7}"/>
                  </a:ext>
                </a:extLst>
              </p:cNvPr>
              <p:cNvSpPr/>
              <p:nvPr/>
            </p:nvSpPr>
            <p:spPr>
              <a:xfrm>
                <a:off x="2521749" y="438152"/>
                <a:ext cx="2447925" cy="8763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T-RIS</a:t>
                </a:r>
              </a:p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PIN modulation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I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One DDS, all elements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1DBF294-9603-354A-0EC7-73C99E7367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749" y="438152"/>
                <a:ext cx="2447925" cy="876300"/>
              </a:xfrm>
              <a:prstGeom prst="rect">
                <a:avLst/>
              </a:prstGeom>
              <a:blipFill>
                <a:blip r:embed="rId2"/>
                <a:stretch>
                  <a:fillRect l="-1238" t="-5442" r="-743" b="-129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76E9173-89B1-E2FF-2B1F-EEBEE43268A3}"/>
                  </a:ext>
                </a:extLst>
              </p:cNvPr>
              <p:cNvSpPr/>
              <p:nvPr/>
            </p:nvSpPr>
            <p:spPr>
              <a:xfrm>
                <a:off x="5998365" y="400052"/>
                <a:ext cx="2447925" cy="9144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R-RIS</a:t>
                </a:r>
              </a:p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3-bit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I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IN" b="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Updated once per CPI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76E9173-89B1-E2FF-2B1F-EEBEE43268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365" y="400052"/>
                <a:ext cx="2447925" cy="914400"/>
              </a:xfrm>
              <a:prstGeom prst="rect">
                <a:avLst/>
              </a:prstGeom>
              <a:blipFill>
                <a:blip r:embed="rId3"/>
                <a:stretch>
                  <a:fillRect t="-2614" b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4A48A1-7337-9730-5B4F-C3FB5B42FC58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190751" y="876302"/>
            <a:ext cx="30479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B4D50B-B60F-CA67-BAC3-DAEC3D0B92F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969674" y="876302"/>
            <a:ext cx="10310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CB47136-A076-43BB-E18E-D3E392A1B07B}"/>
              </a:ext>
            </a:extLst>
          </p:cNvPr>
          <p:cNvSpPr/>
          <p:nvPr/>
        </p:nvSpPr>
        <p:spPr>
          <a:xfrm>
            <a:off x="6500813" y="1628770"/>
            <a:ext cx="928689" cy="3238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target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CBE5B2-7B77-ABDD-7226-97CEE4B60577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965158" y="1314452"/>
            <a:ext cx="0" cy="314318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799190B-913F-969C-88B2-61B68CDED43A}"/>
              </a:ext>
            </a:extLst>
          </p:cNvPr>
          <p:cNvSpPr/>
          <p:nvPr/>
        </p:nvSpPr>
        <p:spPr>
          <a:xfrm>
            <a:off x="333375" y="2314575"/>
            <a:ext cx="2381248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Rx ULA, 16 el.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I/Q down-conversion,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Per-symbol correlator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6F7E7D-4771-E0E6-35D8-65C82ACFE190}"/>
              </a:ext>
            </a:extLst>
          </p:cNvPr>
          <p:cNvSpPr/>
          <p:nvPr/>
        </p:nvSpPr>
        <p:spPr>
          <a:xfrm>
            <a:off x="3236913" y="2308741"/>
            <a:ext cx="2679697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Coherent 2-D processing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Path, Doppler, angle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(peak refinement)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924396F-FE0E-BAE9-3F13-92CF24FE0430}"/>
                  </a:ext>
                </a:extLst>
              </p:cNvPr>
              <p:cNvSpPr/>
              <p:nvPr/>
            </p:nvSpPr>
            <p:spPr>
              <a:xfrm>
                <a:off x="6438901" y="2301361"/>
                <a:ext cx="1981201" cy="914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Bistatic inversion</a:t>
                </a:r>
              </a:p>
              <a:p>
                <a:pPr algn="ctr"/>
                <a:r>
                  <a:rPr lang="en-IN" dirty="0">
                    <a:solidFill>
                      <a:schemeClr val="tx1"/>
                    </a:solidFill>
                  </a:rPr>
                  <a:t>IMM tracker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924396F-FE0E-BAE9-3F13-92CF24FE04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1" y="2301361"/>
                <a:ext cx="1981201" cy="914400"/>
              </a:xfrm>
              <a:prstGeom prst="rect">
                <a:avLst/>
              </a:prstGeom>
              <a:blipFill>
                <a:blip r:embed="rId4"/>
                <a:stretch>
                  <a:fillRect t="-3922" b="-2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110887-6461-E2FE-DE0B-4C84689447AF}"/>
              </a:ext>
            </a:extLst>
          </p:cNvPr>
          <p:cNvCxnSpPr>
            <a:cxnSpLocks/>
          </p:cNvCxnSpPr>
          <p:nvPr/>
        </p:nvCxnSpPr>
        <p:spPr>
          <a:xfrm>
            <a:off x="1504950" y="1790694"/>
            <a:ext cx="4995863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5A1948-2EA2-C749-F9FD-E6AE44066625}"/>
              </a:ext>
            </a:extLst>
          </p:cNvPr>
          <p:cNvCxnSpPr>
            <a:cxnSpLocks/>
          </p:cNvCxnSpPr>
          <p:nvPr/>
        </p:nvCxnSpPr>
        <p:spPr>
          <a:xfrm>
            <a:off x="1501775" y="1762125"/>
            <a:ext cx="0" cy="54661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FD1E254-C5E9-0D52-4605-90945BF7B9A4}"/>
              </a:ext>
            </a:extLst>
          </p:cNvPr>
          <p:cNvCxnSpPr/>
          <p:nvPr/>
        </p:nvCxnSpPr>
        <p:spPr>
          <a:xfrm flipV="1">
            <a:off x="7781925" y="1314452"/>
            <a:ext cx="0" cy="9942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13EECEB-5352-E035-F2E7-51D5AE38B692}"/>
              </a:ext>
            </a:extLst>
          </p:cNvPr>
          <p:cNvSpPr txBox="1"/>
          <p:nvPr/>
        </p:nvSpPr>
        <p:spPr>
          <a:xfrm>
            <a:off x="5467349" y="1932029"/>
            <a:ext cx="340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Beam command (SPI)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0B0E7D-0D64-0C82-8E33-6BB86F169291}"/>
              </a:ext>
            </a:extLst>
          </p:cNvPr>
          <p:cNvSpPr txBox="1"/>
          <p:nvPr/>
        </p:nvSpPr>
        <p:spPr>
          <a:xfrm>
            <a:off x="1611312" y="1932029"/>
            <a:ext cx="728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/>
                </a:solidFill>
              </a:rPr>
              <a:t>Echo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D6121B-1A9F-A59C-1AFD-C53B56408B4E}"/>
              </a:ext>
            </a:extLst>
          </p:cNvPr>
          <p:cNvSpPr txBox="1"/>
          <p:nvPr/>
        </p:nvSpPr>
        <p:spPr>
          <a:xfrm>
            <a:off x="5379246" y="1285877"/>
            <a:ext cx="148589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M-FSK beam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7C96BB2-FB0F-557F-DE7D-2594E29C96C0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2714623" y="2765941"/>
            <a:ext cx="522290" cy="583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91AA6AF-FCAD-9D8D-2F9E-72234EA64B2E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 flipV="1">
            <a:off x="5916610" y="2758561"/>
            <a:ext cx="522291" cy="73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FF531C8-2CC8-A2BC-DA21-AE2B7D864345}"/>
              </a:ext>
            </a:extLst>
          </p:cNvPr>
          <p:cNvSpPr txBox="1"/>
          <p:nvPr/>
        </p:nvSpPr>
        <p:spPr>
          <a:xfrm>
            <a:off x="4950623" y="438152"/>
            <a:ext cx="1252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</a:rPr>
              <a:t>near field</a:t>
            </a:r>
          </a:p>
        </p:txBody>
      </p:sp>
    </p:spTree>
    <p:extLst>
      <p:ext uri="{BB962C8B-B14F-4D97-AF65-F5344CB8AC3E}">
        <p14:creationId xmlns:p14="http://schemas.microsoft.com/office/powerpoint/2010/main" val="33757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911F9D-ECEE-89F4-BD31-BD0A26769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05" y="1687679"/>
            <a:ext cx="9807790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17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66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Mohan Neelamraju</dc:creator>
  <cp:lastModifiedBy>Pavan Mohan Neelamraju</cp:lastModifiedBy>
  <cp:revision>23</cp:revision>
  <dcterms:created xsi:type="dcterms:W3CDTF">2026-09-28T18:58:06Z</dcterms:created>
  <dcterms:modified xsi:type="dcterms:W3CDTF">2026-09-28T19:11:17Z</dcterms:modified>
</cp:coreProperties>
</file>